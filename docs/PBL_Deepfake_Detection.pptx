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4022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School of Computer Science and Engineering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Department of Computer Science and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Enhanced Identity-Based Deepfake Detection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via Geometric Embedding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2743200"/>
            <a:ext cx="2743200" cy="457200"/>
          </a:xfrm>
          <a:prstGeom prst="rect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14751"/>
                </a:solidFill>
              </a:rPr>
              <a:t>✓ SUBMITTED | REVISION 1 AFTER MIDTERM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F2F1"/>
                </a:solidFill>
              </a:rPr>
              <a:t>Supervised By: </a:t>
            </a:r>
            <a:r>
              <a:rPr lang="en-US" sz="1200" b="1" dirty="0">
                <a:solidFill>
                  <a:srgbClr val="FFFFFF"/>
                </a:solidFill>
              </a:rPr>
              <a:t>Dr. Lav Upadhyay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0F2F1"/>
                </a:solidFill>
              </a:rPr>
              <a:t>Submitted By: </a:t>
            </a:r>
            <a:r>
              <a:rPr lang="en-US" sz="1200" b="1" dirty="0">
                <a:solidFill>
                  <a:srgbClr val="FFFFFF"/>
                </a:solidFill>
              </a:rPr>
              <a:t>Aakash </a:t>
            </a:r>
            <a:r>
              <a:rPr lang="en-US" sz="1200" b="1" dirty="0" err="1">
                <a:solidFill>
                  <a:srgbClr val="FFFFFF"/>
                </a:solidFill>
              </a:rPr>
              <a:t>kushwaha</a:t>
            </a:r>
            <a:r>
              <a:rPr lang="en-US" sz="1200" b="1" dirty="0">
                <a:solidFill>
                  <a:srgbClr val="FFFFFF"/>
                </a:solidFill>
              </a:rPr>
              <a:t>(23fe10cse00344)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Outline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Introduction &amp; Motivation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Literature Review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Problem Statement &amp; Objectives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Proposed Methodology (Workflow + Novel Contributions)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Ablation Study: What Worked vs Failed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Results &amp; Cross-Dataset Evaluation</a:t>
            </a:r>
            <a:endParaRPr lang="en-US" sz="18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Outcomes &amp; Timeline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Introduction: The Deepfake Threat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Deepfakes: AI-generated synthetic media that swap faces in videos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Used for misinformation, fraud, and identity theft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Detection becomes harder as generation quality improves</a:t>
            </a:r>
            <a:endParaRPr lang="en-US" sz="16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Real-world impact: Political manipulation, financial scams, privacy violations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1371600"/>
            <a:ext cx="365760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11,000+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Videos Tested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2560320"/>
            <a:ext cx="3657600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Datasets Used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3749040"/>
            <a:ext cx="3657600" cy="914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99.99%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02920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Peak AUC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Detection Challenges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0" cy="1371600"/>
          </a:xfrm>
          <a:prstGeom prst="rect">
            <a:avLst/>
          </a:prstGeom>
          <a:solidFill>
            <a:srgbClr val="E0F2F1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High Quality Fakes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Modern deepfakes are nearly photorealistic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4114800" cy="1371600"/>
          </a:xfrm>
          <a:prstGeom prst="rect">
            <a:avLst/>
          </a:prstGeom>
          <a:solidFill>
            <a:srgbClr val="E0F2F1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Compression Artifacts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Videos lose quality during transmission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114800" cy="1371600"/>
          </a:xfrm>
          <a:prstGeom prst="rect">
            <a:avLst/>
          </a:prstGeom>
          <a:solidFill>
            <a:srgbClr val="E0F2F1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Limited References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Few real images available for comparison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3017520"/>
            <a:ext cx="4114800" cy="1371600"/>
          </a:xfrm>
          <a:prstGeom prst="rect">
            <a:avLst/>
          </a:prstGeom>
          <a:solidFill>
            <a:srgbClr val="E0F2F1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32004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Generalization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3657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Methods must work across different datasets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Literature Review: Existing Approaches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CNN-based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Learn artifact patterns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Needs large labeled datasets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Temporal Analysis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Track frame consistency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Fails on modern deepfakes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Face Recognition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Match identity similarity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Only uses max similarity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Biological Signals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Detect heartbeat/blinks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Easily spoofed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4751"/>
                </a:solidFill>
              </a:rPr>
              <a:t>⚡ Research Gap: No method models deepfakes as geometric interpolation in embedding space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Problem Statement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14751"/>
                </a:solidFill>
              </a:rPr>
              <a:t>How can we improve identity-based deepfake detection by capturing the geometric properties of face-swapping in embedding space?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Research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13716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Develop novel geometric scoring methods that capture face-swapping mechanics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Achieve state-of-the-art detection accuracy on benchmark datasets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63040" y="30175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Ensure robustness under compression and limited reference data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3040" y="38404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</a:rPr>
              <a:t>Validate methods through comprehensive ablation studies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Methodology: Overall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28016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Video Input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554480" y="1645920"/>
            <a:ext cx="18288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737360" y="1188720"/>
            <a:ext cx="1280160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37360" y="11887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Frame Extraction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(32 frames)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1645920"/>
            <a:ext cx="18288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1280160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1887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Face Detection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(RetinaFace)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645920"/>
            <a:ext cx="18288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280160" cy="91440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1887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 Extraction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(ArcFace)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645920"/>
            <a:ext cx="18288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1280160" cy="9144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1887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Novel Scoring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Methods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0" y="1645920"/>
            <a:ext cx="182880" cy="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589520" y="1188720"/>
            <a:ext cx="1280160" cy="9144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89520" y="11887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Dataset: </a:t>
            </a:r>
            <a:r>
              <a:rPr lang="en-US" sz="1400" dirty="0">
                <a:solidFill>
                  <a:srgbClr val="1A1A1A"/>
                </a:solidFill>
              </a:rPr>
              <a:t>Celeb-DF (5,639 fakes + 590 real), FaceForensics++ (4,000 videos)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Embeddings: </a:t>
            </a:r>
            <a:r>
              <a:rPr lang="en-US" sz="1400" dirty="0">
                <a:solidFill>
                  <a:srgbClr val="1A1A1A"/>
                </a:solidFill>
              </a:rPr>
              <a:t>512-dim ArcFace features per frame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Evaluation: </a:t>
            </a:r>
            <a:r>
              <a:rPr lang="en-US" sz="1400" dirty="0">
                <a:solidFill>
                  <a:srgbClr val="1A1A1A"/>
                </a:solidFill>
              </a:rPr>
              <a:t>Video-level AUC (mean of frame scores)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Feature Extraction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Input: Video file</a:t>
            </a:r>
            <a:endParaRPr lang="en-US" sz="16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Extract 32 uniformly sampled frames</a:t>
            </a:r>
            <a:endParaRPr lang="en-US" sz="16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Detect largest face per frame (RetinaFace)</a:t>
            </a:r>
            <a:endParaRPr lang="en-US" sz="16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Generate 512-dim embedding (ArcFace ResNet-50)</a:t>
            </a:r>
            <a:endParaRPr lang="en-US" sz="16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Store embeddings + reference set per identity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1371600"/>
            <a:ext cx="3657600" cy="3200400"/>
          </a:xfrm>
          <a:prstGeom prst="rect">
            <a:avLst/>
          </a:prstGeom>
          <a:solidFill>
            <a:srgbClr val="E0F2F1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21208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📊 Processing Stats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212080" y="2103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Total Videos: 11,629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12080" y="2468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Frames Extracted: ~372,000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2834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Embeddings Generated: ~372,000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3200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Identities (Celeb-DF): 59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0" y="3566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Avg Reference/ID: 160 frames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3931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Processing Time: ~14 hours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Novel Contributions (Our Work)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02C39A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 Betweenness Geometry ★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Measures WHERE test embedding sits on line between claimed ID and nearest other ID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1463040"/>
            <a:ext cx="18288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99.99% AUC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solidFill>
            <a:srgbClr val="00A896">
              <a:alpha val="80000"/>
            </a:srgbClr>
          </a:solidFill>
          <a:ln w="381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4751"/>
                </a:solidFill>
              </a:rPr>
              <a:t>2. Negative Margin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Compares similarity to claimed ID vs nearest other identity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2606040"/>
            <a:ext cx="18288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</a:rPr>
              <a:t>99.90% AUC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028090">
              <a:alpha val="80000"/>
            </a:srgbClr>
          </a:solidFill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4751"/>
                </a:solidFill>
              </a:rPr>
              <a:t>3. Statistical Modeling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Uses full distribution (mean, median, std) instead of just max similarity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3749040"/>
            <a:ext cx="18288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99.80% AUC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+ Source Identity Detection: 96.2% accuracy in identifying actual source face used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Ablation Study: What We Tested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 METHODS THAT WORKED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400" dirty="0">
                <a:solidFill>
                  <a:srgbClr val="047857"/>
                </a:solidFill>
              </a:rPr>
              <a:t>Betweenness Geometry</a:t>
            </a:r>
            <a:endParaRPr lang="en-US" sz="14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  → 99.99% AUC (Celeb-DF)</a:t>
            </a:r>
            <a:endParaRPr lang="en-US" sz="14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400" dirty="0">
                <a:solidFill>
                  <a:srgbClr val="047857"/>
                </a:solidFill>
              </a:rPr>
              <a:t>Negative Margin Scoring</a:t>
            </a:r>
            <a:endParaRPr lang="en-US" sz="14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  → 99.90% AUC (Celeb-DF)</a:t>
            </a:r>
            <a:endParaRPr lang="en-US" sz="14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400" dirty="0">
                <a:solidFill>
                  <a:srgbClr val="047857"/>
                </a:solidFill>
              </a:rPr>
              <a:t>Statistical Modeling</a:t>
            </a:r>
            <a:endParaRPr lang="en-US" sz="14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  → 99.80% AUC (Celeb-DF)</a:t>
            </a:r>
            <a:endParaRPr lang="en-US" sz="14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400" dirty="0">
                <a:solidFill>
                  <a:srgbClr val="047857"/>
                </a:solidFill>
              </a:rPr>
              <a:t>Source Detection Analysis</a:t>
            </a:r>
            <a:endParaRPr lang="en-US" sz="14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  → 96.2% accuracy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✗ METHODS THAT FAILED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400" dirty="0">
                <a:solidFill>
                  <a:srgbClr val="991B1B"/>
                </a:solidFill>
              </a:rPr>
              <a:t>Temporal Consistency</a:t>
            </a:r>
            <a:endParaRPr lang="en-US" sz="14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  → 64% AUC (modern fakes are smooth)</a:t>
            </a:r>
            <a:endParaRPr lang="en-US" sz="14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400" dirty="0">
                <a:solidFill>
                  <a:srgbClr val="991B1B"/>
                </a:solidFill>
              </a:rPr>
              <a:t>Multi-Layer Fusion</a:t>
            </a:r>
            <a:endParaRPr lang="en-US" sz="14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  → 74% AUC (early layers lack info)</a:t>
            </a:r>
            <a:endParaRPr lang="en-US" sz="14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400" dirty="0">
                <a:solidFill>
                  <a:srgbClr val="991B1B"/>
                </a:solidFill>
              </a:rPr>
              <a:t>Adaptive Threshold</a:t>
            </a:r>
            <a:endParaRPr lang="en-US" sz="14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  → Hurts performance (no room)</a:t>
            </a:r>
            <a:endParaRPr lang="en-US" sz="14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400" dirty="0">
                <a:solidFill>
                  <a:srgbClr val="991B1B"/>
                </a:solidFill>
              </a:rPr>
              <a:t>Frame Weighting</a:t>
            </a:r>
            <a:endParaRPr lang="en-US" sz="14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  → No improvement</a:t>
            </a:r>
            <a:endParaRPr lang="en-US" sz="1400" dirty="0"/>
          </a:p>
          <a:p>
            <a:pPr marL="342900" indent="-342900">
              <a:lnSpc>
                <a:spcPts val="1200"/>
              </a:lnSpc>
              <a:buSzPct val="100000"/>
              <a:buChar char="•"/>
            </a:pPr>
            <a:r>
              <a:rPr lang="en-US" sz="1400" dirty="0">
                <a:solidFill>
                  <a:srgbClr val="991B1B"/>
                </a:solidFill>
              </a:rPr>
              <a:t>Dual-Consistency</a:t>
            </a:r>
            <a:endParaRPr lang="en-US" sz="14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  → 69% AUC (wrong features)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751"/>
                </a:solidFill>
              </a:rPr>
              <a:t>💡 Key Insight: Geometric modeling of embedding space outperforms temporal and multi-layer approaches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Results: Celeb-DF v2 Performance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71600"/>
          <a:ext cx="6400800" cy="2286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Real Videos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Fake Videos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FACTOR (baseline)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99.40%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590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5,639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Statistical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99.80%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590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5,639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Negative Margin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99.90%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590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5,639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2C39A"/>
                          </a:solidFill>
                        </a:rPr>
                        <a:t>Betweenness ★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2C39A"/>
                          </a:solidFill>
                        </a:rPr>
                        <a:t>99.99%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590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5,639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M+S+B (Combined)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99.99%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590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5,639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840480"/>
            <a:ext cx="3931920" cy="91440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4751"/>
                </a:solidFill>
              </a:rPr>
              <a:t>🎯 Key Achievement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14751"/>
                </a:solidFill>
              </a:rPr>
              <a:t>+0.59% improvement over baseline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14751"/>
                </a:solidFill>
              </a:rPr>
              <a:t>Perfect separation on 58/59 identities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754880" y="3840480"/>
            <a:ext cx="3931920" cy="914400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937760" y="3840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4751"/>
                </a:solidFill>
              </a:rPr>
              <a:t>📊 Source Detection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14751"/>
                </a:solidFill>
              </a:rPr>
              <a:t>96.2% accuracy in identifying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14751"/>
                </a:solidFill>
              </a:rPr>
              <a:t>actual source face used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Cross-Dataset Generalization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Celeb-DF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FF++ DF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FF++ FS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FF++ F2F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FF++ NT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FACTOR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99.40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99.88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99.87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88.78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46.18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Statistical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99.80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99.85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99.83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81.94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50.37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Margin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99.90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99.82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99.06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71.50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48.05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2C39A"/>
                          </a:solidFill>
                        </a:rPr>
                        <a:t>Betweenness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2C39A"/>
                          </a:solidFill>
                        </a:rPr>
                        <a:t>99.99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2C39A"/>
                          </a:solidFill>
                        </a:rPr>
                        <a:t>99.97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2C39A"/>
                          </a:solidFill>
                        </a:rPr>
                        <a:t>99.92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82.69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48.18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M+S+B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99.99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99.94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99.90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75.78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49.17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DF = Deepfakes, FS = FaceSwap, F2F = Face2Face, NT = NeuralTextures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Betweenness is BEST on all face-swap datasets (DF, FS)</a:t>
            </a:r>
            <a:endParaRPr lang="en-US" sz="13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F2F and NT are reenactment methods (no identity change) → identity methods cannot detect them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Compression Robustness (c23 → c40)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7315200" cy="2407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c23 AUC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c40 AUC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Drop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FACTOR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99.88%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99.83%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0.05%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Baseline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Statistical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99.85%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99.81%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0.04%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Similar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Margin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99.82%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99.36%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0.46%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Less Robust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2C39A"/>
                          </a:solidFill>
                        </a:rPr>
                        <a:t>Betweenness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2C39A"/>
                          </a:solidFill>
                        </a:rPr>
                        <a:t>99.97%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2C39A"/>
                          </a:solidFill>
                        </a:rPr>
                        <a:t>99.94%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2C39A"/>
                          </a:solidFill>
                        </a:rPr>
                        <a:t>0.03%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2C39A"/>
                          </a:solidFill>
                        </a:rPr>
                        <a:t>Most Robust ★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</a:rPr>
              <a:t>c23 = High Quality | c40 = Heavy Compression (realistic scenario)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1828800" y="4297680"/>
            <a:ext cx="5486400" cy="64008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011680" y="42976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4751"/>
                </a:solidFill>
              </a:rPr>
              <a:t>🏆 Betweenness maintains performance even under heavy compression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Outcomes &amp; Project Timeline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02C39A"/>
          </a:solidFill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Submission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0" y="1508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 COMPLETED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Before Midterm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868680"/>
          </a:xfrm>
          <a:prstGeom prst="rect">
            <a:avLst/>
          </a:prstGeom>
          <a:solidFill>
            <a:srgbClr val="00A896"/>
          </a:solidFill>
          <a:ln w="381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4003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Midterm Work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0" y="24003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 COMPLETED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Current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7660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Novelty validated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Ablation complete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Cross-dataset tested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523702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Revision 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⏳ IN PROGRESS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After Midterm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396517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📝 Research Outputs Achieved: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Research Paper (Submitted once, revision in progress)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3 Novel Methods with validation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Comprehensive experiments on 11,000+ videos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Code implementation and evaluation pipeline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28090"/>
                </a:solidFill>
              </a:rPr>
              <a:t>References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[1] Li, Y. et al. (2020). Celeb-DF: A Large-Scale Challenging Dataset for DeepFake Forensics. CVPR.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[2] Rossler, A. et al. (2019). FaceForensics++: Learning to Detect Manipulated Facial Images. ICCV.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[3] Deng, J. et al. (2019). ArcFace: Additive Angular Margin Loss for Deep Face Recognition. CVPR.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[4] Shen, Y. et al. (2024). FACTOR: A Framework for Authenticity Check via Temporal Consistency. Pattern Recognition.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</a:rPr>
              <a:t>[5] &lt;Add other relevant papers from your literature review&gt;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C39A"/>
                </a:solidFill>
              </a:rPr>
              <a:t>Questions &amp; Discussion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Enhanced Deepfake Detection via Geometric Embedding Analysis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1043</Words>
  <Application>Microsoft Macintosh PowerPoint</Application>
  <PresentationFormat>On-screen Show (16:9)</PresentationFormat>
  <Paragraphs>266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Enhanced Deepfake Detection via Geometric Embedding Analysis</dc:title>
  <dc:subject>PptxGenJS Presentation</dc:subject>
  <dc:creator>PBL Student</dc:creator>
  <cp:lastModifiedBy>[BTECH-005-2023-24] AAKASH KUSHWAHA</cp:lastModifiedBy>
  <cp:revision>2</cp:revision>
  <dcterms:created xsi:type="dcterms:W3CDTF">2026-02-14T18:53:53Z</dcterms:created>
  <dcterms:modified xsi:type="dcterms:W3CDTF">2026-02-14T19:02:59Z</dcterms:modified>
</cp:coreProperties>
</file>